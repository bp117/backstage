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5" d="100"/>
          <a:sy n="115" d="100"/>
        </p:scale>
        <p:origin x="518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101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1348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the Invisible Workforce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756996" y="2813685"/>
            <a:ext cx="56299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Leadership Design Thinking Workshop on Agentic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72655" y="3743325"/>
            <a:ext cx="299868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• Innovation • Human-AI Collaboration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Now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projected to grow from $28B (2024) to $127B (2029) — 35% CAGR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2029, 80% of customer service issues handled autonomously by AI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automation to autonomy — AI that plans, acts, and collaborates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leadership challenge: managing digital co-workers, not just tools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Chatbots to Co-Workers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485900"/>
            <a:ext cx="1638300" cy="107823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5820" y="1733550"/>
            <a:ext cx="1165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5820" y="2129790"/>
            <a:ext cx="116586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responses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05100" y="1485900"/>
            <a:ext cx="1638300" cy="107823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41320" y="1733550"/>
            <a:ext cx="11658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Co-pilot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941320" y="2129790"/>
            <a:ext cx="116586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actions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325881"/>
            <a:ext cx="1638300" cy="139827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0" y="1573531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Co-worker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36820" y="2289810"/>
            <a:ext cx="116586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tasks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96100" y="1325881"/>
            <a:ext cx="1638300" cy="1398270"/>
          </a:xfrm>
          <a:prstGeom prst="rect">
            <a:avLst/>
          </a:prstGeom>
          <a:solidFill>
            <a:srgbClr val="0284C7"/>
          </a:solidFill>
          <a:ln w="19050">
            <a:solidFill>
              <a:srgbClr val="0284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43750" y="1573531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Co-decision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132320" y="2289810"/>
            <a:ext cx="116586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Goals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 roles, responsibility, and trust in hybrid teams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design thinking to human–AI collaboration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"AI Constitution" for responsible autonomy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guardrails that enable innovation, not restrict it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an AI Agent "Agentic"?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Goal-driven: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toward objectives, not just tasks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Accesses APIs, databases, external systems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Maintains memory across conversations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Plans, executes, evaluates, and replans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AI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91612" y="1325880"/>
            <a:ext cx="2229862" cy="107823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21917" y="1573530"/>
            <a:ext cx="17692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21917" y="1969770"/>
            <a:ext cx="176925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down goals into steps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83474" y="1325880"/>
            <a:ext cx="1896130" cy="107823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17116" y="1573530"/>
            <a:ext cx="1428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217116" y="1969770"/>
            <a:ext cx="142884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actions with tools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41604" y="1325880"/>
            <a:ext cx="1510784" cy="107823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79099" y="1573530"/>
            <a:ext cx="1035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79099" y="1969770"/>
            <a:ext cx="103579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results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27089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feedback loop enables autonomous learning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436" y="112801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Agentic AI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657569"/>
            <a:ext cx="7924800" cy="10668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8952" y="886169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8952" y="1282409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prior authorization—reduces approval time by 70%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724369"/>
            <a:ext cx="7924800" cy="10668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8952" y="1952969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2349209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Walmart's AI forecasts demand per SKU per store autonomously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943569"/>
            <a:ext cx="7924800" cy="10668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8952" y="3172169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568409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Darktrace's AI detects, investigates, and responds to threats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4010369"/>
            <a:ext cx="7924800" cy="10668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8952" y="4238969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952" y="4635209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Copilot, AutoGen, LangGraph enable code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Human–AI Symbiosis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"Invisible Workforce" — digital teammates working alongside humans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Humans: Strategic thinking, ethical judgment, creativity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Pattern recognition, scalability, tireless execution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role: Design boundaries, culture, collaboration norms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for AI Teams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2"/>
            <a:ext cx="1448038" cy="5791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0568" y="1478282"/>
            <a:ext cx="116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Empathize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14838" y="1325882"/>
            <a:ext cx="1092101" cy="5791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59365" y="1478282"/>
            <a:ext cx="803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64139" y="1325882"/>
            <a:ext cx="1092101" cy="5791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08666" y="1478282"/>
            <a:ext cx="803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13440" y="1325882"/>
            <a:ext cx="1371719" cy="5791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55171" y="1478282"/>
            <a:ext cx="1088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42359" y="1325882"/>
            <a:ext cx="1092101" cy="57912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6886" y="1478282"/>
            <a:ext cx="803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22098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apply this to human-AI collaboration design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Workforce Canvas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2539960" cy="78105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9620" y="1409700"/>
            <a:ext cx="2264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9620" y="1684023"/>
            <a:ext cx="226431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outcome?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01961" y="1249682"/>
            <a:ext cx="2540020" cy="78105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61981" y="1409700"/>
            <a:ext cx="2264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Roles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61981" y="1684023"/>
            <a:ext cx="226437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94381" y="1249682"/>
            <a:ext cx="2540020" cy="78105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54400" y="1409700"/>
            <a:ext cx="2264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54400" y="1684023"/>
            <a:ext cx="226437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AI do?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2183132"/>
            <a:ext cx="2539960" cy="78105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9620" y="2343150"/>
            <a:ext cx="2264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9620" y="2617473"/>
            <a:ext cx="226431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boundaries?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01961" y="2183132"/>
            <a:ext cx="2540020" cy="78105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1981" y="2343150"/>
            <a:ext cx="2264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61981" y="2617473"/>
            <a:ext cx="226437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measure trust?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4381" y="2183132"/>
            <a:ext cx="2540020" cy="78105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54400" y="2343150"/>
            <a:ext cx="2264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54400" y="2617473"/>
            <a:ext cx="226437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interact?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1927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designing responsible human-AI teams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AI Underwriting Analyst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Loan approval delays causing customer friction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risk reviews take 3-5 days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Underwriters overwhelmed with routine applications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cases need human expertise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requirements are strict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17" y="-982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Solution: Roles &amp; Responsibilities</a:t>
            </a:r>
            <a:endParaRPr lang="en-US" sz="27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DB363B-9AE6-C00A-A1E3-A113FCCC578A}"/>
              </a:ext>
            </a:extLst>
          </p:cNvPr>
          <p:cNvGrpSpPr/>
          <p:nvPr/>
        </p:nvGrpSpPr>
        <p:grpSpPr>
          <a:xfrm>
            <a:off x="447199" y="676309"/>
            <a:ext cx="4001817" cy="2477748"/>
            <a:chOff x="447200" y="676309"/>
            <a:chExt cx="8025284" cy="2477748"/>
          </a:xfrm>
        </p:grpSpPr>
        <p:sp>
          <p:nvSpPr>
            <p:cNvPr id="3" name="Text 1"/>
            <p:cNvSpPr/>
            <p:nvPr/>
          </p:nvSpPr>
          <p:spPr>
            <a:xfrm>
              <a:off x="447200" y="676309"/>
              <a:ext cx="8025284" cy="2477748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75799" y="904908"/>
              <a:ext cx="7713533" cy="334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3360"/>
                </a:lnSpc>
                <a:buNone/>
              </a:pPr>
              <a:r>
                <a:rPr lang="en-US" sz="1200" b="1" dirty="0">
                  <a:solidFill>
                    <a:srgbClr val="0284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 Roles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980600" y="1377350"/>
              <a:ext cx="7253622" cy="1505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Review complex cases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Final approval authority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Exception handling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Policy interpretation</a:t>
              </a:r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1D937FF-733E-2B28-7653-AF6368CCD460}"/>
              </a:ext>
            </a:extLst>
          </p:cNvPr>
          <p:cNvGrpSpPr/>
          <p:nvPr/>
        </p:nvGrpSpPr>
        <p:grpSpPr>
          <a:xfrm>
            <a:off x="4572000" y="648107"/>
            <a:ext cx="4142397" cy="2477748"/>
            <a:chOff x="447200" y="3046127"/>
            <a:chExt cx="8025283" cy="2477748"/>
          </a:xfrm>
        </p:grpSpPr>
        <p:sp>
          <p:nvSpPr>
            <p:cNvPr id="6" name="Text 4"/>
            <p:cNvSpPr/>
            <p:nvPr/>
          </p:nvSpPr>
          <p:spPr>
            <a:xfrm>
              <a:off x="447200" y="3046127"/>
              <a:ext cx="8025283" cy="2477748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75799" y="3274726"/>
              <a:ext cx="7713533" cy="334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3360"/>
                </a:lnSpc>
                <a:buNone/>
              </a:pPr>
              <a:r>
                <a:rPr lang="en-US" sz="1200" b="1" dirty="0">
                  <a:solidFill>
                    <a:srgbClr val="0284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Agent Roles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80600" y="3747168"/>
              <a:ext cx="7253622" cy="15057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Gather financial data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Calculate risk scores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Flag anomalies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Draft recommendations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7620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Solution: Guardrails &amp; Metrics</a:t>
            </a:r>
            <a:endParaRPr lang="en-US" sz="27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1E3E4D5-EC45-E356-66E8-5485FA984FF9}"/>
              </a:ext>
            </a:extLst>
          </p:cNvPr>
          <p:cNvGrpSpPr/>
          <p:nvPr/>
        </p:nvGrpSpPr>
        <p:grpSpPr>
          <a:xfrm>
            <a:off x="609600" y="1249681"/>
            <a:ext cx="2915478" cy="2030231"/>
            <a:chOff x="609600" y="1249682"/>
            <a:chExt cx="7924800" cy="1981200"/>
          </a:xfrm>
        </p:grpSpPr>
        <p:sp>
          <p:nvSpPr>
            <p:cNvPr id="3" name="Text 1"/>
            <p:cNvSpPr/>
            <p:nvPr/>
          </p:nvSpPr>
          <p:spPr>
            <a:xfrm>
              <a:off x="609600" y="1249682"/>
              <a:ext cx="7924800" cy="1981200"/>
            </a:xfrm>
            <a:prstGeom prst="rect">
              <a:avLst/>
            </a:prstGeom>
            <a:solidFill>
              <a:srgbClr val="F1F5F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838200" y="1478282"/>
              <a:ext cx="761695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3360"/>
                </a:lnSpc>
                <a:buNone/>
              </a:pPr>
              <a:r>
                <a:rPr lang="en-US" sz="2100" b="1" dirty="0">
                  <a:solidFill>
                    <a:srgbClr val="0284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Guardrails</a:t>
              </a:r>
              <a:endParaRPr lang="en-US" sz="21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143000" y="1950723"/>
              <a:ext cx="716280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 review for loans &gt; $100K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Escalate if risk score uncertain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auto-rejection without review</a:t>
              </a:r>
              <a:endParaRPr lang="en-US" sz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574705-E2D0-2135-2502-982F8B59D85C}"/>
              </a:ext>
            </a:extLst>
          </p:cNvPr>
          <p:cNvGrpSpPr/>
          <p:nvPr/>
        </p:nvGrpSpPr>
        <p:grpSpPr>
          <a:xfrm>
            <a:off x="3721312" y="1213238"/>
            <a:ext cx="4511601" cy="1981200"/>
            <a:chOff x="609600" y="3230882"/>
            <a:chExt cx="7924800" cy="1981200"/>
          </a:xfrm>
        </p:grpSpPr>
        <p:sp>
          <p:nvSpPr>
            <p:cNvPr id="6" name="Text 4"/>
            <p:cNvSpPr/>
            <p:nvPr/>
          </p:nvSpPr>
          <p:spPr>
            <a:xfrm>
              <a:off x="609600" y="3230882"/>
              <a:ext cx="7924800" cy="1981200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38200" y="3459482"/>
              <a:ext cx="761695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3360"/>
                </a:lnSpc>
                <a:buNone/>
              </a:pPr>
              <a:r>
                <a:rPr lang="en-US" sz="2100" b="1" dirty="0">
                  <a:solidFill>
                    <a:srgbClr val="0284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Success Metrics</a:t>
              </a:r>
              <a:endParaRPr lang="en-US" sz="2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143000" y="3931923"/>
              <a:ext cx="716280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Approval time reduced to 24hrs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95% accuracy on recommendations</a:t>
              </a:r>
              <a:endParaRPr lang="en-US" sz="1200" dirty="0"/>
            </a:p>
            <a:p>
              <a:pPr marL="342900" indent="-342900">
                <a:lnSpc>
                  <a:spcPts val="288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Zero compliance violations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Reflection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boundaries should leaders set for AI autonomy?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metrics define trust in AI decisions?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communicate decisions shared with AI to stakeholders?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AI and human judgment conflict?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Design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an AI teammate for your domain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case: Compliance Officer, Talent Scout, Risk Advisor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your AI Workforce Canvas in teams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roles, guardrails, and oversight loops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collaboration, not automation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Discussion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your AI joins the team tomorrow...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new leadership skill would you need?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onboard this digital teammate?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be in your AI's "code of conduct"?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Leadership Guardrails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2"/>
            <a:ext cx="3886200" cy="119253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81634" y="1630682"/>
            <a:ext cx="3342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81634" y="2026918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 through transparency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48200" y="1325882"/>
            <a:ext cx="3886200" cy="119253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20234" y="1630682"/>
            <a:ext cx="3342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20234" y="2026918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decisions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2670814"/>
            <a:ext cx="3886200" cy="119253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1634" y="2975614"/>
            <a:ext cx="3342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81634" y="3371850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for humans &amp;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8200" y="2670814"/>
            <a:ext cx="3886200" cy="1192530"/>
          </a:xfrm>
          <a:prstGeom prst="rect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0234" y="2975614"/>
            <a:ext cx="33421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20234" y="3371850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aligned with values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4091946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responsible autonomy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designs part of the invisible workforce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isn't about control — it's about co-evolution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don't replace people; they amplify intent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enables innovation when done right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Constitution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principles for responsible agentic AI: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4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Decisions free from bias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ownership of outcomes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Explainable reasoning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protection by design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Override: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Ultimate human authority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Resources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your journey: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Download: AI Workforce Canvas template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Case studies and design toolkit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"Build Your First Agentic AI" lab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598293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60700" y="2451739"/>
            <a:ext cx="42225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the future before it designs you."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48603" y="3305175"/>
            <a:ext cx="18467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735</Words>
  <Application>Microsoft Office PowerPoint</Application>
  <PresentationFormat>On-screen Show (16:9)</PresentationFormat>
  <Paragraphs>163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bindu priya</cp:lastModifiedBy>
  <cp:revision>2</cp:revision>
  <dcterms:created xsi:type="dcterms:W3CDTF">2025-11-06T08:21:18Z</dcterms:created>
  <dcterms:modified xsi:type="dcterms:W3CDTF">2025-11-06T08:27:41Z</dcterms:modified>
</cp:coreProperties>
</file>